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C4B4F"/>
          </a:solidFill>
          <a:ln w="12700">
            <a:solidFill>
              <a:srgbClr val="1C4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3872" y="0"/>
            <a:ext cx="109728" cy="6858000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관리 시스템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640080" cy="45720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663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Management Committee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Meeting Operations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Ver. 0.1  ·  2026.04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생성 → 안건 등록 →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검토 → 본회의 → 보고서,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화면에서.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63640" y="374904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회의 라이프사이클을 디지털화하여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 누락·이력 손실을 방지하고,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모두가 동일한 컨텍스트에서 의사결정에 참여할 수 있게 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5349240"/>
            <a:ext cx="1691640" cy="1188720"/>
          </a:xfrm>
          <a:prstGeom prst="rect">
            <a:avLst/>
          </a:prstGeom>
          <a:solidFill>
            <a:srgbClr val="1C4B4F"/>
          </a:solidFill>
          <a:ln w="6350">
            <a:solidFill>
              <a:srgbClr val="E8B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53949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63640" y="5989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5349240"/>
            <a:ext cx="1691640" cy="1188720"/>
          </a:xfrm>
          <a:prstGeom prst="rect">
            <a:avLst/>
          </a:prstGeom>
          <a:solidFill>
            <a:srgbClr val="1C4B4F"/>
          </a:solidFill>
          <a:ln w="6350">
            <a:solidFill>
              <a:srgbClr val="E8B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53949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38160" y="5989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12680" y="5349240"/>
            <a:ext cx="1691640" cy="1188720"/>
          </a:xfrm>
          <a:prstGeom prst="rect">
            <a:avLst/>
          </a:prstGeom>
          <a:solidFill>
            <a:srgbClr val="1C4B4F"/>
          </a:solidFill>
          <a:ln w="6350">
            <a:solidFill>
              <a:srgbClr val="E8B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53949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12680" y="5989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만들었나요?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경영집행위원회는 회사의 주요 의사결정이 이뤄지는 자리지만,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준비–진행–기록은 여전히 메일/파일 단위로 흩어져 있었습니다.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시스템은 회의 한 회차의 전 과정을 하나의 흐름으로 묶어,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누구나 지금 무엇을 해야 하는지 즉시 알 수 있도록 설계됐습니다.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12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37360"/>
            <a:ext cx="109728" cy="141732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통합된 흐름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생성부터 CEO 보고서까지 단일 화면에서 관리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337560"/>
            <a:ext cx="5212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337560"/>
            <a:ext cx="109728" cy="141732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703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접근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관리자/집행위원 권한 분리, 감사 로그 기록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4937760"/>
            <a:ext cx="5212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937760"/>
            <a:ext cx="109728" cy="141732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5029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5303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기록의 자산화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5760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아카이브로 누적되는 안건·의결 이력 · 검색·공유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회차 관리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연도·회차 번호 자동 초기화, 중복 감지,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정기/수시 회의 토글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11680"/>
            <a:ext cx="502920" cy="50292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2011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 등록 &amp; 첨부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Drawer 형태의 안건 업로드,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미리보기 연동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011680"/>
            <a:ext cx="502920" cy="50292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20116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검토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2606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안건별 검토 완료 처리,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위원 피드백 누적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본회의 진행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참석자 체크, 타이머,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안건별 의결(찬반) 기록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7033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977640"/>
            <a:ext cx="502920" cy="50292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977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&amp; CEO 보고서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17720" y="45720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종료 시 자동 문서 생성,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PDF/이미지 내보내기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7033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3977640"/>
            <a:ext cx="502920" cy="50292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52560" y="3977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아카이브 &amp; 검색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0" y="45720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역대 회차 안건 검색,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웹/클립보드 공유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라이프사이클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3611880"/>
            <a:ext cx="10607040" cy="36576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154680"/>
            <a:ext cx="868680" cy="868680"/>
          </a:xfrm>
          <a:prstGeom prst="ellipse">
            <a:avLst/>
          </a:prstGeom>
          <a:solidFill>
            <a:srgbClr val="2A676C"/>
          </a:solidFill>
          <a:ln w="25400">
            <a:solidFill>
              <a:srgbClr val="E8B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154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생성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4617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 등록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일정·장소·안건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154680"/>
            <a:ext cx="868680" cy="868680"/>
          </a:xfrm>
          <a:prstGeom prst="ellipse">
            <a:avLst/>
          </a:prstGeom>
          <a:solidFill>
            <a:srgbClr val="2A676C"/>
          </a:solidFill>
          <a:ln w="25400">
            <a:solidFill>
              <a:srgbClr val="E8B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154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 등록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88920" y="4617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상정 안건 업로드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첨부파일 관리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154680"/>
            <a:ext cx="868680" cy="868680"/>
          </a:xfrm>
          <a:prstGeom prst="ellipse">
            <a:avLst/>
          </a:prstGeom>
          <a:solidFill>
            <a:srgbClr val="2A676C"/>
          </a:solidFill>
          <a:ln w="25400">
            <a:solidFill>
              <a:srgbClr val="E8B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154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검토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74920" y="4617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위원 사전 검토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의견·쟁점 정리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3154680"/>
            <a:ext cx="868680" cy="868680"/>
          </a:xfrm>
          <a:prstGeom prst="ellipse">
            <a:avLst/>
          </a:prstGeom>
          <a:solidFill>
            <a:srgbClr val="2A676C"/>
          </a:solidFill>
          <a:ln w="25400">
            <a:solidFill>
              <a:srgbClr val="E8B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154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092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본회의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60920" y="4617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참석 체크·타이머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의결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41280" y="3154680"/>
            <a:ext cx="868680" cy="868680"/>
          </a:xfrm>
          <a:prstGeom prst="ellipse">
            <a:avLst/>
          </a:prstGeom>
          <a:solidFill>
            <a:srgbClr val="2A676C"/>
          </a:solidFill>
          <a:ln w="25400">
            <a:solidFill>
              <a:srgbClr val="E8B1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3154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4692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46920" y="4617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회의록·CEO 보고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760720"/>
            <a:ext cx="11109960" cy="68580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7607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57607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관리자(간사) — 회의 생성·보고서 발행   ·   집행위원 — 안건 검토·본회의 의결   ·   CEO — 보고서 열람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AUTHENTICATION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&amp; 접근 제어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· 집행위원 · CEO 각 역할로 로그인하면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각자에게 보여야 할 화면과 메뉴가 자동으로 분기됩니다.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ID/비밀번호 기반 로그인, 초기 관리자 계정 시드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접근 가드 (관리자 전용 /admin/users)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이력 · 감사 로그(auditService) 자동 기록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비밀번호 재설정 플로우 (메일 발송 연계)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로그인 &amp; 접근 제어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— 현재 회의 한눈에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화면은 "다음 회의"를 중심으로 재설계됐습니다.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 · 단계별 CTA · 최근 회차 strip을 한 화면에 배치했습니다.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CurrentMeetingCard — 회차 정보 inline 편집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Next Action 버튼으로 할 일 즉시 안내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회차 strip + Archive 요약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미검토 안건 수 / 검토 완료 상태 실시간 반영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03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대시보드 — 현재 회의 한눈에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 등록 Drawer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 등록은 전용 Drawer에서 처리됩니다.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제목·발제자·설명·첨부파일을 한 번에 등록할 수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회차(roundId) 기반 대상 지정 라우팅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첨부파일 업로드 + 파일명 클릭 시 미리보기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등록과 동시에 대시보드 · 아카이브에 반영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안건별 상태(대기/검토완료/가결/부결) 추적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05_agenda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안건 등록 Drawer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PRE-REVIEW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검토 패널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본회의 전, 집행위원들은 사전 검토 패널에서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안건을 차례대로 확인하고 "검토 완료" 처리합니다.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meetingStore 기반 안건 조회 (mock 제거)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완료 시 voteResult = approved 로 업데이트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패널 전환 시 activeIndex 자동 초기화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파일 · 발제 내용 · 쟁점을 한 화면에 통합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06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사전 검토 패널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LIVE MEETING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본회의 진행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본회의 시작 모달에서 참석자·체크리스트를 점검하고,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타이머 · 안건별 의결을 기록합니다.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참석자 체크인 / 정족수 검증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안건별 찬성 · 반대 · 기권 집계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시간(duration) 자동 측정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처리 시 보고서 · 아카이브로 자동 승계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07_meeting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본회의 진행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&amp; CEO 보고서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회의가 종료되면 회의록과 CEO 보고서가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 생성되고 PDF · 이미지로 내보낼 수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html2canvas 기반 이미지/PDF 내보내기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완료된 회차(duration ≠ 0)만 보고서 리스트에 노출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 정렬 모달 · 대형 뷰 (max-w-6xl)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CEO 보고서 별도 템플릿 지원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09_ceo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회의록 &amp; CEO 보고서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 ARCHIVE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아카이브 — 기록의 자산화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역대 회차 · 안건이 모두 한 테이블에 누적됩니다.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· 필터 · 공유를 통해 의사결정 이력을 자산화합니다.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배지(가결·부결·보류) · 회차별 그룹핑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클릭 시 안건 상세 모달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Share API · 클립보드 공유 지원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Glance — 회차 · 안건 수 요약 지표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04_arch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아카이브 — 기록의 자산화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 ACCOUNTS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관리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관리자는 집행위원 계정을 직접 추가하고 관리할 수 있습니다.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· 집행위원 섹션이 분리되어 한눈에 파악됩니다.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57200" cy="36576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/admin/users 전용 페이지 (관리자 가드)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관리자/간사 · 집행위원 섹션 분리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805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추가 모달 · 초기 비밀번호 발송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재설정 · 메일 발송 로그(mailLogService)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6858000" cy="466344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pic>
        <p:nvPicPr>
          <p:cNvPr id="16" name="Image 0" descr="/Users/jw/Workspace/mgmt/screenshots/11_admin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675120" cy="4480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6400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계정 관리 화면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73152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67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 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73152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137160" cy="13716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16.2.3 (App Router · Turbopack)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611880"/>
            <a:ext cx="137160" cy="13716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 / TypeScript 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137160" cy="13716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14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 CSS v4 (@theme)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983480"/>
            <a:ext cx="137160" cy="137160"/>
          </a:xfrm>
          <a:prstGeom prst="rect">
            <a:avLst/>
          </a:prstGeom>
          <a:solidFill>
            <a:srgbClr val="2A676C"/>
          </a:solidFill>
          <a:ln w="12700">
            <a:solidFill>
              <a:srgbClr val="2A67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8006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Zustand 4 · Phosphor Icons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15968" y="1828800"/>
            <a:ext cx="3611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5968" y="1828800"/>
            <a:ext cx="3611880" cy="731520"/>
          </a:xfrm>
          <a:prstGeom prst="rect">
            <a:avLst/>
          </a:prstGeom>
          <a:solidFill>
            <a:srgbClr val="1C4B4F"/>
          </a:solidFill>
          <a:ln w="12700">
            <a:solidFill>
              <a:srgbClr val="1C4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828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·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36008" y="2926080"/>
            <a:ext cx="137160" cy="137160"/>
          </a:xfrm>
          <a:prstGeom prst="rect">
            <a:avLst/>
          </a:prstGeom>
          <a:solidFill>
            <a:srgbClr val="1C4B4F"/>
          </a:solidFill>
          <a:ln w="12700">
            <a:solidFill>
              <a:srgbClr val="1C4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Server Actions · API Routes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36008" y="3611880"/>
            <a:ext cx="137160" cy="137160"/>
          </a:xfrm>
          <a:prstGeom prst="rect">
            <a:avLst/>
          </a:prstGeom>
          <a:solidFill>
            <a:srgbClr val="1C4B4F"/>
          </a:solidFill>
          <a:ln w="12700">
            <a:solidFill>
              <a:srgbClr val="1C4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 (기존 스키마 연계)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36008" y="4297680"/>
            <a:ext cx="137160" cy="137160"/>
          </a:xfrm>
          <a:prstGeom prst="rect">
            <a:avLst/>
          </a:prstGeom>
          <a:solidFill>
            <a:srgbClr val="1C4B4F"/>
          </a:solidFill>
          <a:ln w="12700">
            <a:solidFill>
              <a:srgbClr val="1C4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4114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Prisma 도입 예정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36008" y="4983480"/>
            <a:ext cx="137160" cy="137160"/>
          </a:xfrm>
          <a:prstGeom prst="rect">
            <a:avLst/>
          </a:prstGeom>
          <a:solidFill>
            <a:srgbClr val="1C4B4F"/>
          </a:solidFill>
          <a:ln w="12700">
            <a:solidFill>
              <a:srgbClr val="1C4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48006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로그 · 메일 로그 서비스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83296" y="1828800"/>
            <a:ext cx="3611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1828800"/>
            <a:ext cx="3611880" cy="73152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1828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 · Ops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03336" y="2926080"/>
            <a:ext cx="137160" cy="13716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1936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 배포 파이프라인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03336" y="3611880"/>
            <a:ext cx="137160" cy="13716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SMTP 메일 발송 (비밀번호 재설정)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03336" y="4297680"/>
            <a:ext cx="137160" cy="13716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31936" y="4114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QA · 스크린샷 회귀 체크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03336" y="4983480"/>
            <a:ext cx="137160" cy="137160"/>
          </a:xfrm>
          <a:prstGeom prst="rect">
            <a:avLst/>
          </a:prstGeom>
          <a:solidFill>
            <a:srgbClr val="0F2A2C"/>
          </a:solidFill>
          <a:ln w="12700">
            <a:solidFill>
              <a:srgbClr val="0F2A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31936" y="48006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3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테스트 도입 예정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ROADMAP &amp;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앞으로의 계획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611880" cy="2926080"/>
          </a:xfrm>
          <a:prstGeom prst="rect">
            <a:avLst/>
          </a:prstGeom>
          <a:solidFill>
            <a:srgbClr val="1C4B4F"/>
          </a:solidFill>
          <a:ln w="9525">
            <a:solidFill>
              <a:srgbClr val="2A67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109728" cy="2926080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2834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5AB598"/>
          </a:solidFill>
          <a:ln w="12700">
            <a:solidFill>
              <a:srgbClr val="5AB5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291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· 상태관리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토큰, Zustand 스토어,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모달/드로어 플로우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194560"/>
            <a:ext cx="3611880" cy="2926080"/>
          </a:xfrm>
          <a:prstGeom prst="rect">
            <a:avLst/>
          </a:prstGeom>
          <a:solidFill>
            <a:srgbClr val="1C4B4F"/>
          </a:solidFill>
          <a:ln w="9525">
            <a:solidFill>
              <a:srgbClr val="2A67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194560"/>
            <a:ext cx="109728" cy="2926080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 데이터 연동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9776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 · Server Actions,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· 메일 · 감사 로그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2194560"/>
            <a:ext cx="3611880" cy="2926080"/>
          </a:xfrm>
          <a:prstGeom prst="rect">
            <a:avLst/>
          </a:prstGeom>
          <a:solidFill>
            <a:srgbClr val="1C4B4F"/>
          </a:solidFill>
          <a:ln w="9525">
            <a:solidFill>
              <a:srgbClr val="2A67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194560"/>
            <a:ext cx="109728" cy="2926080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1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49640" y="2834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8FA3A8"/>
          </a:solidFill>
          <a:ln w="12700">
            <a:solidFill>
              <a:srgbClr val="8FA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49640" y="3291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문서 자동화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49640" y="39776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연동,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요약 · 회의록 · CEO 보고서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548640" cy="45720"/>
          </a:xfrm>
          <a:prstGeom prst="rect">
            <a:avLst/>
          </a:prstGeom>
          <a:solidFill>
            <a:srgbClr val="E8B14F"/>
          </a:solidFill>
          <a:ln w="12700">
            <a:solidFill>
              <a:srgbClr val="E8B1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715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경영집행위원회 회의 관리 시스템  ·  2026.04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경영집행위원회 회의 관리 시스템</dc:title>
  <dc:subject>PptxGenJS Presentation</dc:subject>
  <dc:creator>PptxGenJS</dc:creator>
  <cp:lastModifiedBy>PptxGenJS</cp:lastModifiedBy>
  <cp:revision>1</cp:revision>
  <dcterms:created xsi:type="dcterms:W3CDTF">2026-04-24T03:03:01Z</dcterms:created>
  <dcterms:modified xsi:type="dcterms:W3CDTF">2026-04-24T03:03:01Z</dcterms:modified>
</cp:coreProperties>
</file>